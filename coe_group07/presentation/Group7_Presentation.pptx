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55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20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29260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9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— Microprocessors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KNUST | Dept. of Computer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2926080" cy="22860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Asiedu Seth Osei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Frimpong Roddy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Jessica Oforiwaa Anim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Asante Samuel Osei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Bosomtwi Akosua Serwaa Maame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Daniel Kuma Gyebi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Samuella Andoh Bannerman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Kamil Khadija Ndaiya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4334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Frimpong Solomon Junior</a:t>
            </a:r>
            <a:endParaRPr lang="en-US" sz="8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02920"/>
            <a:ext cx="548640" cy="548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23360" y="1143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402336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02336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System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023360" y="2542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ESP32 Microcontroller + Wokwi Simulation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23360" y="30632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096512" y="3090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096512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9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Eliel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Keelson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15000" y="30632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88152" y="3090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788152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29, 2026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06640" y="3063240"/>
            <a:ext cx="1554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479792" y="30906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479792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+ ESP32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02336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fast is your reaction? We built a system to prove it."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2 of 11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98448"/>
            <a:ext cx="269748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42646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" y="17739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2048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we are solving and why it matters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54680" y="12984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54680" y="1298448"/>
            <a:ext cx="269748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4612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42646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46120" y="17739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46120" y="2048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design, firmware logic, FSM architecture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989320" y="12984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89320" y="1298448"/>
            <a:ext cx="269748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80760" y="1426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142646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080760" y="17739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080760" y="2048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ISRs, buzzer functions, and FSM switch-case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20040" y="26700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2670048"/>
            <a:ext cx="269748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11480" y="27980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2798064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11480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Demo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11480" y="34198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running — normal rounds, false starts, scores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154680" y="26700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54680" y="2670048"/>
            <a:ext cx="2697480" cy="54864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46120" y="27980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2798064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246120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246120" y="34198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data and system performance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989320" y="267004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989320" y="2670048"/>
            <a:ext cx="269748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080760" y="27980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2798064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080760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080760" y="34198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challenges, and future improvements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3 of 11  |  March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498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you ever argued with a friend about who reacted faster?  How would you actually prove it?"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554480"/>
            <a:ext cx="2715768" cy="2450592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64208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9768" y="22494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&amp; Opaque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9768" y="2633472"/>
            <a:ext cx="24963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reaction time systems cost hundreds of dollars and hide all engineering detail from the user. They give results without explaining how.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72968" y="1554480"/>
            <a:ext cx="2715768" cy="2450592"/>
          </a:xfrm>
          <a:prstGeom prst="rect">
            <a:avLst/>
          </a:prstGeom>
          <a:solidFill>
            <a:srgbClr val="1B3A5C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66420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82696" y="22494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Single-Player Only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82696" y="2633472"/>
            <a:ext cx="24963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educational prototypes are single-player. They cannot support competitive two-player comparison or demonstrate concurrent interrupt handling.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25896" y="1554480"/>
            <a:ext cx="2715768" cy="2450592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66420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35624" y="224942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Educational Value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35624" y="2633472"/>
            <a:ext cx="24963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option demonstrates embedded systems concepts — GPIO interrupts, FSM design, I2C communication, or real-time timing logic — to engineering students.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20040" y="4133088"/>
            <a:ext cx="8503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19709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" y="413308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dual-player ESP32-based system that measures reaction times with millisecond precision — open, educational, and competitive.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Components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4 of 11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— End to 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269748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91056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1591056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15)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2487168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 Button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3383280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Button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170432"/>
            <a:ext cx="2697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591056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9272" y="1591056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240MHz Dual-Core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487168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9272" y="2487168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Firmware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38328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9272" y="3383280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millis() Timer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Precision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170432"/>
            <a:ext cx="2697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591056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91072" y="1591056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LCD Display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(GPIO 21/22)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487168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91072" y="2487168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Buzzer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18)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338328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91072" y="3383280"/>
            <a:ext cx="2551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Output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71800" y="2331720"/>
            <a:ext cx="274320" cy="64008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176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943600" y="2331720"/>
            <a:ext cx="274320" cy="64008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1762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15 → LED  |  GPIO 4 → P1 Button  |  GPIO 5 → P2 Button  |  GPIO 18 → Buzzer  |  GPIO 21/22 → LCD I2C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Hardware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5 of 11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8872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4538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15 → 220Ω resistor → LED anode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(3.3V − 2.0V) / 0.010A = 130Ω → use 220Ω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3852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Buttons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03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 &amp; 5 with INPUT_PULLUP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Active-low: pressed = LOW, released = HIGH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6883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8833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 direct drive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digitalWrite HIGH = sound, LOW = silent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4381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38144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65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→ GPIO 21, SCL → GPIO 22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0x27, 16 cols × 2 rows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160520" cy="3474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77240"/>
            <a:ext cx="416052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645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651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Firmware &amp; FSM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6 of 11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Finite State Machine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07008"/>
            <a:ext cx="1600200" cy="10058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280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609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1517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65960" y="1207008"/>
            <a:ext cx="16002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1280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1609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1517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57400" y="2249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False Start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0" y="1207008"/>
            <a:ext cx="160020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3320" y="1280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03320" y="1609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Signal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1517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49240" y="1207008"/>
            <a:ext cx="1600200" cy="100584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1280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1609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40880" y="1207008"/>
            <a:ext cx="160020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86600" y="1280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86600" y="1609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Start!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3408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Returns to WAITING after result or fault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788920"/>
            <a:ext cx="162763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788920"/>
            <a:ext cx="16276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keyword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200400"/>
            <a:ext cx="1481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ISR variables — prevents compiler caching stale values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11680" y="2788920"/>
            <a:ext cx="162763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0" y="2788920"/>
            <a:ext cx="16276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84832" y="3200400"/>
            <a:ext cx="1481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ISRs stored in fast RAM — eliminates flash cache latency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49040" y="2788920"/>
            <a:ext cx="162763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49040" y="2788920"/>
            <a:ext cx="16276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edge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22192" y="3200400"/>
            <a:ext cx="1481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fire when button pin goes HIGH → LOW on press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2788920"/>
            <a:ext cx="162763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0" y="2788920"/>
            <a:ext cx="16276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millis() Timer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59552" y="3200400"/>
            <a:ext cx="1481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ms since power-on — reaction = press time − LED time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2788920"/>
            <a:ext cx="1627632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23760" y="2788920"/>
            <a:ext cx="16276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gameActive flag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96912" y="3200400"/>
            <a:ext cx="1481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that allows ISR recording only during stimulus phase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Key Sections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7 of 11  |  March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Parts of reaction_time_game.ino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52144"/>
            <a:ext cx="411480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52144"/>
            <a:ext cx="54864" cy="2057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Service Routine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IRAM_ATTR player1ISR()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764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(gameActive &amp;&amp; !p1Pressed)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p1Pressed = true;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276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p1Time    = millis();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532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152144"/>
            <a:ext cx="411480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52144"/>
            <a:ext cx="54864" cy="20574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Time Calculation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508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stimulusBeep();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764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digitalWrite(LED_PIN, HIGH);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gameActive   = true;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276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stimulusTime = millis();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532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788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p1Reaction = p1Time - stimulusTime;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044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p2Reaction = p2Time - stimulusTime;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364992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4107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ISR from fast internal RAM — not flash. Saves ~200ns per call.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96312" y="3364992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87752" y="34107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gameActive gate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87752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records presses when LED is ON. Prevents false recordings.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72584" y="3364992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64024" y="34107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flag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64024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p1Pressed is volatile — compiler always reads fresh value from memory.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48856" y="3364992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0296" y="34107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timing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0296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p1Reaction = p1Pressed ? (p1Time - stimulusTime) : 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Feedback System — Audio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8 of 11  |  March 2026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4980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Event Has a Unique Sound Pattern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26187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C8D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261872"/>
            <a:ext cx="2788920" cy="45720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13533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Startup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" y="166420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short beep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193852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150ms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84048" y="217627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ESP32 powers 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82112" y="126187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82112" y="1261872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13533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Starting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91840" y="166420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quick soft beeps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91840" y="193852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60ms x2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91840" y="217627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button starts a round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89904" y="126187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89904" y="1261872"/>
            <a:ext cx="278892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13533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Stimulus — GO!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99632" y="166420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sharp beeps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99632" y="193852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100ms x3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99632" y="217627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LED activates — REACT NOW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4320" y="281635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2816352"/>
            <a:ext cx="2788920" cy="457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29077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Winner!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84048" y="321868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long celebratory beep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" y="349300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600ms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84048" y="37307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press detected, winner declared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182112" y="281635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182112" y="2816352"/>
            <a:ext cx="2788920" cy="457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91840" y="29077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Result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291840" y="321868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rapid alternating beeps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91840" y="349300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80ms x4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291840" y="37307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reaction times detected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089904" y="2816352"/>
            <a:ext cx="278892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89904" y="2816352"/>
            <a:ext cx="27889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99632" y="29077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START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99632" y="321868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very long alarm tone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199632" y="349300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1200ms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199632" y="37307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pressed during WAITING phase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Demonstration — Wokwi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9 of 11  |  March 2026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System Run — Live on Screen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23444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234440"/>
            <a:ext cx="43891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23444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" y="1307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Boots Up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" y="158191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GROUP 7 GAME. Startup beep fires. Press any button to start.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36592" y="123444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36592" y="1234440"/>
            <a:ext cx="438912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6592" y="123444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66944" y="1307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IT Phase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66944" y="158191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2–5 second delay begins. LCD shows WAIT FOR IT. Watching for false starts.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224028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240280"/>
            <a:ext cx="438912" cy="8229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24028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4672" y="23134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Signal — LED Fires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" y="258775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turns ON. 3 sharp buzzer beeps. PRESS NOW on LCD. Both ISRs now active.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36592" y="224028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36592" y="2240280"/>
            <a:ext cx="438912" cy="8229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6592" y="224028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66944" y="23134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React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266944" y="258775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buttons clicked. p1Time and p2Time recorded by ISRs instantly.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24612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246120"/>
            <a:ext cx="438912" cy="8229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324612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04672" y="3319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04672" y="359359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P1: 245ms  P2: 312ms. P1 WINS declared. Winner beep fires.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36592" y="3246120"/>
            <a:ext cx="4251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36592" y="3246120"/>
            <a:ext cx="438912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36592" y="324612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266944" y="3319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Start Test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266944" y="359359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during WAIT FOR IT phase. FALSE START shown. 1200ms alarm beep.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74320" y="4224528"/>
            <a:ext cx="8595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2245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10 of 11  |  March 2026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5895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System Achieved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44820"/>
              </p:ext>
            </p:extLst>
          </p:nvPr>
        </p:nvGraphicFramePr>
        <p:xfrm>
          <a:off x="320040" y="1170432"/>
          <a:ext cx="5303520" cy="2164080"/>
        </p:xfrm>
        <a:graphic>
          <a:graphicData uri="http://schemas.openxmlformats.org/drawingml/2006/table">
            <a:tbl>
              <a:tblPr/>
              <a:tblGrid>
                <a:gridCol w="564863"/>
                <a:gridCol w="715297"/>
                <a:gridCol w="822960"/>
                <a:gridCol w="1097280"/>
                <a:gridCol w="2103120"/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339ms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320ms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round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320ms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320ms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round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Response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r>
                        <a:rPr lang="en-US" sz="1000" b="1" baseline="0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Response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r>
                        <a:rPr lang="en-US" sz="1200" b="1" baseline="0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pressed early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START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pressed early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897880" y="1170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5361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536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timing worked correctly in all rounds</a:t>
            </a:r>
            <a:endParaRPr lang="en-US" sz="1050" b="1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99339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0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start detection triggered 100% of the time</a:t>
            </a:r>
            <a:endParaRPr lang="en-US" sz="1050" b="1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450592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2450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arbitration correct for all test scenarios</a:t>
            </a:r>
            <a:endParaRPr lang="en-US" sz="1050" b="1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907792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1792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updated within 100ms of round completion</a:t>
            </a:r>
            <a:endParaRPr lang="en-US" sz="1050" b="1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36499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217920" y="3364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±5ms browser simulation variance noted vs real hardware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320040" y="3310128"/>
            <a:ext cx="850392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320040" y="331012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320040" y="37490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22192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41248" y="3785616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Dual-player concurrent ISR management, randomised RNG delay, false-start FSM logic, multi-event buzzer patterns, and gameActive gating — all on a single ESP32 chip.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381 | Group 7 | KNUST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286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Dual-Player Reaction Time System  |  Slide 11 of 11  |  March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2834640" cy="3456432"/>
          </a:xfrm>
          <a:prstGeom prst="rect">
            <a:avLst/>
          </a:prstGeom>
          <a:solidFill>
            <a:srgbClr val="1B3A5C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49808"/>
            <a:ext cx="283464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59536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1737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Dual-player reaction time measured in milliseconds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38912" y="21396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5-state FSM running flawlessly in Wokwi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38912" y="254203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start detection — 100% reliable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38912" y="29443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Multi-event buzzer feedback system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38912" y="33467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I2C LCD interface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academic documentation suite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0" y="749808"/>
            <a:ext cx="2834640" cy="3456432"/>
          </a:xfrm>
          <a:prstGeom prst="rect">
            <a:avLst/>
          </a:prstGeom>
          <a:solidFill>
            <a:srgbClr val="1B3A5C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749808"/>
            <a:ext cx="2834640" cy="457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859536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9184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Overcame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64992" y="1737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Understanding volatile and ISR safety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364992" y="21396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LCD I2C address configuration (0x27)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364992" y="254203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Button debounce in simulation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364992" y="29443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dual-ISR timestamp logic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364992" y="33467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FSM return vs break distinction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126480" y="749808"/>
            <a:ext cx="2834640" cy="3456432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26480" y="749808"/>
            <a:ext cx="2834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859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1792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291072" y="17373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ESP32-S3 + SPI TFT display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91072" y="21396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EEPROM session data logging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291072" y="254203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 score transmission dashboard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291072" y="29443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RC debounce circuits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6291072" y="33467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Auditory stimulus mode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291072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Multi-round tournament scoring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274320" y="4315968"/>
            <a:ext cx="859536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F4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411480" y="43159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demonstrates that complex embedded systems — real-time interrupts, FSM design, and multi-peripheral control — can be built, understood, and explained by students from the ground up."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1401</Words>
  <Application>Microsoft Office PowerPoint</Application>
  <PresentationFormat>On-screen Show (16:9)</PresentationFormat>
  <Paragraphs>287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7 — Dual-Player Reaction Time System</dc:title>
  <dc:subject>PptxGenJS Presentation</dc:subject>
  <dc:creator>Group 7, COE 381, KNUST</dc:creator>
  <cp:lastModifiedBy>Microsoft account</cp:lastModifiedBy>
  <cp:revision>5</cp:revision>
  <dcterms:created xsi:type="dcterms:W3CDTF">2026-03-20T19:28:27Z</dcterms:created>
  <dcterms:modified xsi:type="dcterms:W3CDTF">2026-03-26T07:20:18Z</dcterms:modified>
</cp:coreProperties>
</file>